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/G0iRROD3YrPxHrpxF2rzQriB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D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818120" y="1051560"/>
            <a:ext cx="3200400" cy="914400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8549640" y="2331720"/>
            <a:ext cx="2468880" cy="658368"/>
          </a:xfrm>
          <a:prstGeom prst="roundRect">
            <a:avLst>
              <a:gd fmla="val 16667" name="adj"/>
            </a:avLst>
          </a:prstGeom>
          <a:solidFill>
            <a:srgbClr val="46BEC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406640" y="3401568"/>
            <a:ext cx="361188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8229600" y="4800600"/>
            <a:ext cx="2606040" cy="658368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31520" y="6858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AUDIT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31520" y="1143000"/>
            <a:ext cx="6217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RGPD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49808" y="205740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X-corp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749808" y="2926080"/>
            <a:ext cx="5760720" cy="64017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DCE2EB"/>
                </a:solidFill>
                <a:latin typeface="Arial"/>
                <a:ea typeface="Arial"/>
                <a:cs typeface="Arial"/>
                <a:sym typeface="Arial"/>
              </a:rPr>
              <a:t>5 jours pour analyser,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identifier les risques et proposer des améliorations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749808" y="53492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AB7CA"/>
                </a:solidFill>
                <a:latin typeface="Arial"/>
                <a:ea typeface="Arial"/>
                <a:cs typeface="Arial"/>
                <a:sym typeface="Arial"/>
              </a:rPr>
              <a:t>Projet étudiant  •  Technologie &amp; services numériques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1109960" y="640994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58368" y="457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E71D2"/>
                </a:solidFill>
                <a:latin typeface="Arial"/>
                <a:ea typeface="Arial"/>
                <a:cs typeface="Arial"/>
                <a:sym typeface="Arial"/>
              </a:rPr>
              <a:t>JOUR 1  /  RGPD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658368" y="932688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Découverte &amp; analyse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685800" y="162763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Comprendre X-corp avant de commencer l’audit.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992124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024128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E8EC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0561319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E8EC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0881359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E8EC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120140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E8EC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58368" y="64465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X-corp  •  Audit RGPD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1109960" y="640994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658368" y="2331720"/>
            <a:ext cx="1828800" cy="3337560"/>
          </a:xfrm>
          <a:prstGeom prst="roundRect">
            <a:avLst>
              <a:gd fmla="val 16667" name="adj"/>
            </a:avLst>
          </a:prstGeom>
          <a:solidFill>
            <a:srgbClr val="131D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868680" y="269748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841248" y="365760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COMPRENDRE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841248" y="409651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les traitements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2788920" y="2331720"/>
            <a:ext cx="40690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3063240" y="257860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E71D2"/>
                </a:solidFill>
                <a:latin typeface="Arial"/>
                <a:ea typeface="Arial"/>
                <a:cs typeface="Arial"/>
                <a:sym typeface="Arial"/>
              </a:rPr>
              <a:t>Objectif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3063240" y="2944368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Découvrir l’organisation et ses pratiques liées aux données personnelles.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7132320" y="2331720"/>
            <a:ext cx="43434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7406640" y="257860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D9D74"/>
                </a:solidFill>
                <a:latin typeface="Arial"/>
                <a:ea typeface="Arial"/>
                <a:cs typeface="Arial"/>
                <a:sym typeface="Arial"/>
              </a:rPr>
              <a:t>Ce qu’on analyse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7406640" y="2816352"/>
            <a:ext cx="3611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• collecte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• utilisation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• conservation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2788920" y="4005072"/>
            <a:ext cx="8686800" cy="1664208"/>
          </a:xfrm>
          <a:prstGeom prst="roundRect">
            <a:avLst>
              <a:gd fmla="val 16667" name="adj"/>
            </a:avLst>
          </a:prstGeom>
          <a:solidFill>
            <a:srgbClr val="131D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3063240" y="42976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Point de départ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3063240" y="466344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X-corp manipule notamment des données clients, utilisateurs et patients.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58368" y="457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E71D2"/>
                </a:solidFill>
                <a:latin typeface="Arial"/>
                <a:ea typeface="Arial"/>
                <a:cs typeface="Arial"/>
                <a:sym typeface="Arial"/>
              </a:rPr>
              <a:t>JOUR 2  /  RGPD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58368" y="932688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Registre des traitements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85800" y="162763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Recenser qui collecte quoi, pourquoi et pendant combien de temps.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992124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1024128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10561319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E8EC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0881359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E8EC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1120140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E8EC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58368" y="64465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X-corp  •  Audit RGPD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1109960" y="640994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658368" y="2331720"/>
            <a:ext cx="3429000" cy="3383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58368" y="2331720"/>
            <a:ext cx="3429000" cy="118872"/>
          </a:xfrm>
          <a:prstGeom prst="rect">
            <a:avLst/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932688" y="267004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RetailCo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932688" y="32735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DONNÉES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932688" y="3584448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Clients • achats • préférences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932688" y="459028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CONSERVATION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932688" y="4892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E71D2"/>
                </a:solidFill>
                <a:latin typeface="Arial"/>
                <a:ea typeface="Arial"/>
                <a:cs typeface="Arial"/>
                <a:sym typeface="Arial"/>
              </a:rPr>
              <a:t>5 ans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4453128" y="2331720"/>
            <a:ext cx="3429000" cy="3383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4453128" y="2331720"/>
            <a:ext cx="3429000" cy="118872"/>
          </a:xfrm>
          <a:prstGeom prst="rect">
            <a:avLst/>
          </a:prstGeom>
          <a:solidFill>
            <a:srgbClr val="CD5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4727448" y="267004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HealthMed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4727448" y="32735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DONNÉES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4727448" y="3584448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Patients • historique médical • prescriptions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4727448" y="459028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CONSERVATION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4727448" y="4892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CD5353"/>
                </a:solidFill>
                <a:latin typeface="Arial"/>
                <a:ea typeface="Arial"/>
                <a:cs typeface="Arial"/>
                <a:sym typeface="Arial"/>
              </a:rPr>
              <a:t>10 ans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8247888" y="2331720"/>
            <a:ext cx="3429000" cy="3383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8247888" y="2331720"/>
            <a:ext cx="3429000" cy="118872"/>
          </a:xfrm>
          <a:prstGeom prst="rect">
            <a:avLst/>
          </a:prstGeom>
          <a:solidFill>
            <a:srgbClr val="3D9D7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8522208" y="267004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EduLearn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8522208" y="32735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DONNÉES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8522208" y="3584448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Utilisateurs • parcours • résultats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8522208" y="459028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CONSERVATION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8522208" y="4892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D9D74"/>
                </a:solidFill>
                <a:latin typeface="Arial"/>
                <a:ea typeface="Arial"/>
                <a:cs typeface="Arial"/>
                <a:sym typeface="Arial"/>
              </a:rPr>
              <a:t>2 ans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777240" y="5961888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Le registre donne une vision claire des traitements réalisés par X-corp.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658368" y="457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E71D2"/>
                </a:solidFill>
                <a:latin typeface="Arial"/>
                <a:ea typeface="Arial"/>
                <a:cs typeface="Arial"/>
                <a:sym typeface="Arial"/>
              </a:rPr>
              <a:t>JOUR 3  /  RGPD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658368" y="932688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DPIA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685800" y="162763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Mesurer les risques avant de lancer un traitement.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992124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1024128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0561319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0881359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E8EC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1120140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E8EC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658368" y="64465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X-corp  •  Audit RGPD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11109960" y="640994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22960" y="2423160"/>
            <a:ext cx="315468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1051560" y="267004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645920" y="26243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Identifier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1645920" y="30632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le traitement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4069080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E71D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4526280" y="2423160"/>
            <a:ext cx="315468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4754880" y="267004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5349240" y="26243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Évaluer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5349240" y="30632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les risques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7772400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E71D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8229600" y="2423160"/>
            <a:ext cx="315468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8458200" y="267004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9052560" y="26243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Réduire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9052560" y="30632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les risques</a:t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822960" y="4572000"/>
            <a:ext cx="10515600" cy="1234440"/>
          </a:xfrm>
          <a:prstGeom prst="roundRect">
            <a:avLst>
              <a:gd fmla="val 16667" name="adj"/>
            </a:avLst>
          </a:prstGeom>
          <a:solidFill>
            <a:srgbClr val="131D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097280" y="484632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Chez X-corp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2331720" y="4773168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Une DPIA est annoncée pour chaque nouveau produit avant son lancement.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868680" y="598932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À surveiller : MarketInsight utilise des techniques d’IA pour prédire les tendances du marché.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658368" y="457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E71D2"/>
                </a:solidFill>
                <a:latin typeface="Arial"/>
                <a:ea typeface="Arial"/>
                <a:cs typeface="Arial"/>
                <a:sym typeface="Arial"/>
              </a:rPr>
              <a:t>JOUR 4  /  RGPD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658368" y="932688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Violation de données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685800" y="162763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Simuler une réponse structurée face à un incident.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992124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1024128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0561319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0881359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1120140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E8EC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658368" y="64465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X-corp  •  Audit RGPD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11109960" y="640994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658368" y="2331720"/>
            <a:ext cx="3063240" cy="3429000"/>
          </a:xfrm>
          <a:prstGeom prst="roundRect">
            <a:avLst>
              <a:gd fmla="val 16667" name="adj"/>
            </a:avLst>
          </a:prstGeom>
          <a:solidFill>
            <a:srgbClr val="131D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914400" y="27889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2 000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914400" y="3520440"/>
            <a:ext cx="25602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2EB"/>
                </a:solidFill>
                <a:latin typeface="Arial"/>
                <a:ea typeface="Arial"/>
                <a:cs typeface="Arial"/>
                <a:sym typeface="Arial"/>
              </a:rPr>
              <a:t>enregistrements clients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exposés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914400" y="48006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incident mineur • il y a 1 an</a:t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4160520" y="2651760"/>
            <a:ext cx="155448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4160520" y="2651760"/>
            <a:ext cx="82296" cy="960120"/>
          </a:xfrm>
          <a:prstGeom prst="rect">
            <a:avLst/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4325112" y="2907792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DÉTECTER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5742431" y="29077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6035040" y="2651760"/>
            <a:ext cx="155448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6035040" y="2651760"/>
            <a:ext cx="82296" cy="960120"/>
          </a:xfrm>
          <a:prstGeom prst="rect">
            <a:avLst/>
          </a:prstGeom>
          <a:solidFill>
            <a:srgbClr val="E897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6199631" y="2907792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ÉVALUER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7616952" y="29077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7909559" y="2651760"/>
            <a:ext cx="155448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7909559" y="2651760"/>
            <a:ext cx="82296" cy="960120"/>
          </a:xfrm>
          <a:prstGeom prst="rect">
            <a:avLst/>
          </a:prstGeom>
          <a:solidFill>
            <a:srgbClr val="46BEC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8074151" y="2907792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DOCUMENTER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9491472" y="29077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9784080" y="2651760"/>
            <a:ext cx="155448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9784080" y="2651760"/>
            <a:ext cx="82296" cy="960120"/>
          </a:xfrm>
          <a:prstGeom prst="rect">
            <a:avLst/>
          </a:prstGeom>
          <a:solidFill>
            <a:srgbClr val="3D9D7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9948672" y="2907792"/>
            <a:ext cx="1234440" cy="22467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ANALYSER</a:t>
            </a:r>
            <a:endParaRPr b="1" i="0" sz="1100" u="none" cap="none" strike="noStrike">
              <a:solidFill>
                <a:srgbClr val="131D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160520" y="4160520"/>
            <a:ext cx="717804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4434840" y="44348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D5353"/>
                </a:solidFill>
                <a:latin typeface="Arial"/>
                <a:ea typeface="Arial"/>
                <a:cs typeface="Arial"/>
                <a:sym typeface="Arial"/>
              </a:rPr>
              <a:t>Constat</a:t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4434840" y="4828032"/>
            <a:ext cx="6355080" cy="54784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réponse structurée en 6 étapes, de l’identification de l’incident jusqu’au déploiement d’un correctif à long terme.</a:t>
            </a:r>
            <a:endParaRPr b="0" sz="1700">
              <a:solidFill>
                <a:srgbClr val="22283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658368" y="457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E71D2"/>
                </a:solidFill>
                <a:latin typeface="Arial"/>
                <a:ea typeface="Arial"/>
                <a:cs typeface="Arial"/>
                <a:sym typeface="Arial"/>
              </a:rPr>
              <a:t>JOUR 5  /  RGPD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658368" y="932688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Audit de conformité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685800" y="1627632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Comparer les pratiques et faire ressortir les priorités.</a:t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992124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024128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0561319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10881359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1201400" y="530352"/>
            <a:ext cx="164592" cy="164592"/>
          </a:xfrm>
          <a:prstGeom prst="roundRect">
            <a:avLst>
              <a:gd fmla="val 16667" name="adj"/>
            </a:avLst>
          </a:prstGeom>
          <a:solidFill>
            <a:srgbClr val="3E71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658368" y="64465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9717D"/>
                </a:solidFill>
                <a:latin typeface="Arial"/>
                <a:ea typeface="Arial"/>
                <a:cs typeface="Arial"/>
                <a:sym typeface="Arial"/>
              </a:rPr>
              <a:t>X-corp  •  Audit RGPD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11109960" y="640994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658368" y="2240280"/>
            <a:ext cx="3429000" cy="3611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932688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D9D74"/>
                </a:solidFill>
                <a:latin typeface="Arial"/>
                <a:ea typeface="Arial"/>
                <a:cs typeface="Arial"/>
                <a:sym typeface="Arial"/>
              </a:rPr>
              <a:t>✓  POINTS FORTS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932688" y="3127248"/>
            <a:ext cx="269748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• DPO nommé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• Chiffrement AES-256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• Authentification 2FA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• RBAC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• Pseudonymisation</a:t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4370832" y="2240280"/>
            <a:ext cx="3429000" cy="3611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4645152" y="25603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89747"/>
                </a:solidFill>
                <a:latin typeface="Arial"/>
                <a:ea typeface="Arial"/>
                <a:cs typeface="Arial"/>
                <a:sym typeface="Arial"/>
              </a:rPr>
              <a:t>⚠  À AMÉLIORER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4645152" y="3127248"/>
            <a:ext cx="269748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• Gestion des consentements marketing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• Traçabilité des consentements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831"/>
                </a:solidFill>
                <a:latin typeface="Arial"/>
                <a:ea typeface="Arial"/>
                <a:cs typeface="Arial"/>
                <a:sym typeface="Arial"/>
              </a:rPr>
              <a:t>• Processus de réponse aux violations</a:t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8083296" y="2240280"/>
            <a:ext cx="3429000" cy="3611880"/>
          </a:xfrm>
          <a:prstGeom prst="roundRect">
            <a:avLst>
              <a:gd fmla="val 16667" name="adj"/>
            </a:avLst>
          </a:prstGeom>
          <a:solidFill>
            <a:srgbClr val="131D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8357616" y="25603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PRIORITÉ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8357616" y="3182112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50–100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8357616" y="3858768"/>
            <a:ext cx="2651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CE2EB"/>
                </a:solidFill>
                <a:latin typeface="Arial"/>
                <a:ea typeface="Arial"/>
                <a:cs typeface="Arial"/>
                <a:sym typeface="Arial"/>
              </a:rPr>
              <a:t>demandes de droit d’accès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 mois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8357616" y="50292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→ processus à maîtriser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D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731520" y="6583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BILAN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731520" y="1234440"/>
            <a:ext cx="81381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X-corp a de bonnes bases.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Mais certains processus restent à renforcer.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749808" y="31546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6BECD"/>
                </a:solidFill>
                <a:latin typeface="Arial"/>
                <a:ea typeface="Arial"/>
                <a:cs typeface="Arial"/>
                <a:sym typeface="Arial"/>
              </a:rPr>
              <a:t>À retenir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749808" y="3611880"/>
            <a:ext cx="7040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1E6EE"/>
                </a:solidFill>
                <a:latin typeface="Arial"/>
                <a:ea typeface="Arial"/>
                <a:cs typeface="Arial"/>
                <a:sym typeface="Arial"/>
              </a:rPr>
              <a:t>• La sécurité technique est déjà bien présente.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1E6EE"/>
                </a:solidFill>
                <a:latin typeface="Arial"/>
                <a:ea typeface="Arial"/>
                <a:cs typeface="Arial"/>
                <a:sym typeface="Arial"/>
              </a:rPr>
              <a:t>• La gestion des consentements doit être mieux documentée.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1E6EE"/>
                </a:solidFill>
                <a:latin typeface="Arial"/>
                <a:ea typeface="Arial"/>
                <a:cs typeface="Arial"/>
                <a:sym typeface="Arial"/>
              </a:rPr>
              <a:t>• La réponse aux violations doit être formalisée et testée.</a:t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8549640" y="1828800"/>
            <a:ext cx="265176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8887968" y="233172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3D9D7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8887968" y="2340863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9464040" y="2350008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SÉCURITÉ</a:t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8887968" y="3172968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E897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87968" y="3182111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9464040" y="3191256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CONSENTEMENT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8887968" y="4014215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CD5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8887968" y="4023359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74" name="Google Shape;274;p7"/>
          <p:cNvSpPr txBox="1"/>
          <p:nvPr/>
        </p:nvSpPr>
        <p:spPr>
          <a:xfrm>
            <a:off x="9464040" y="4032503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31D30"/>
                </a:solidFill>
                <a:latin typeface="Arial"/>
                <a:ea typeface="Arial"/>
                <a:cs typeface="Arial"/>
                <a:sym typeface="Arial"/>
              </a:rPr>
              <a:t>INCIDENTS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749808" y="57150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Merci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749808" y="623620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A0AFC3"/>
                </a:solidFill>
                <a:latin typeface="Arial"/>
                <a:ea typeface="Arial"/>
                <a:cs typeface="Arial"/>
                <a:sym typeface="Arial"/>
              </a:rPr>
              <a:t>Projet étudiant • Audit RGPD de X-corp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